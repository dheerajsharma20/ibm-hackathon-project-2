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0"/>
  </p:notesMasterIdLst>
  <p:sldIdLst>
    <p:sldId id="256" r:id="rId5"/>
    <p:sldId id="2146847054" r:id="rId6"/>
    <p:sldId id="262" r:id="rId7"/>
    <p:sldId id="263" r:id="rId8"/>
    <p:sldId id="265" r:id="rId9"/>
    <p:sldId id="267" r:id="rId10"/>
    <p:sldId id="2146847056" r:id="rId11"/>
    <p:sldId id="2146847057" r:id="rId12"/>
    <p:sldId id="2146847058" r:id="rId13"/>
    <p:sldId id="2146847060" r:id="rId14"/>
    <p:sldId id="268" r:id="rId15"/>
    <p:sldId id="2146847061" r:id="rId16"/>
    <p:sldId id="2146847055" r:id="rId17"/>
    <p:sldId id="269" r:id="rId18"/>
    <p:sldId id="25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C2D01F-53DD-53CB-15F3-A71BB05CAA43}" v="11" dt="2025-08-25T05:49:29.5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07-02-2026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2/7/2026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2/7/2026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2/7/2026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2/7/2026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2/7/2026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2/7/2026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2/7/2026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2/7/2026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2/7/2026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2/7/2026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2/7/2026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2/7/2026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lstStyle/>
          <a:p>
            <a:pPr algn="ctr"/>
            <a:r>
              <a:rPr lang="en-US" b="1" dirty="0">
                <a:solidFill>
                  <a:schemeClr val="accent1"/>
                </a:solidFill>
                <a:latin typeface="Arial"/>
                <a:cs typeface="Arial"/>
              </a:rPr>
              <a:t>Super store : data analytics</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dirty="0">
                <a:solidFill>
                  <a:schemeClr val="accent1">
                    <a:lumMod val="75000"/>
                  </a:schemeClr>
                </a:solidFill>
                <a:latin typeface="Arial"/>
                <a:cs typeface="Arial"/>
              </a:rPr>
              <a:t>IBM HACKATHON PROJECT</a:t>
            </a:r>
          </a:p>
        </p:txBody>
      </p:sp>
      <p:sp>
        <p:nvSpPr>
          <p:cNvPr id="4" name="TextBox 3"/>
          <p:cNvSpPr txBox="1"/>
          <p:nvPr/>
        </p:nvSpPr>
        <p:spPr>
          <a:xfrm>
            <a:off x="782544" y="4270306"/>
            <a:ext cx="7980183" cy="1323439"/>
          </a:xfrm>
          <a:prstGeom prst="rect">
            <a:avLst/>
          </a:prstGeom>
          <a:noFill/>
        </p:spPr>
        <p:txBody>
          <a:bodyPr wrap="square" lIns="91440" tIns="45720" rIns="91440" bIns="45720" rtlCol="0" anchor="t">
            <a:spAutoFit/>
          </a:bodyPr>
          <a:lstStyle/>
          <a:p>
            <a:r>
              <a:rPr lang="en-US" sz="2000" b="1" dirty="0">
                <a:solidFill>
                  <a:schemeClr val="tx2">
                    <a:lumMod val="20000"/>
                    <a:lumOff val="80000"/>
                  </a:schemeClr>
                </a:solidFill>
                <a:latin typeface="Arial" pitchFamily="34" charset="0"/>
                <a:cs typeface="Arial" pitchFamily="34" charset="0"/>
              </a:rPr>
              <a:t>Presented By:</a:t>
            </a:r>
          </a:p>
          <a:p>
            <a:r>
              <a:rPr lang="en-US" sz="2000" b="1" dirty="0">
                <a:solidFill>
                  <a:schemeClr val="tx2">
                    <a:lumMod val="20000"/>
                    <a:lumOff val="80000"/>
                  </a:schemeClr>
                </a:solidFill>
                <a:latin typeface="Arial"/>
                <a:cs typeface="Arial"/>
              </a:rPr>
              <a:t>1. Name :- Dheeraj Kumar Sharma</a:t>
            </a:r>
          </a:p>
          <a:p>
            <a:r>
              <a:rPr lang="en-US" sz="2000" b="1" dirty="0">
                <a:solidFill>
                  <a:schemeClr val="tx2">
                    <a:lumMod val="20000"/>
                    <a:lumOff val="80000"/>
                  </a:schemeClr>
                </a:solidFill>
                <a:latin typeface="Arial"/>
                <a:cs typeface="Arial"/>
              </a:rPr>
              <a:t>2. University :- Haridwar University</a:t>
            </a:r>
          </a:p>
          <a:p>
            <a:r>
              <a:rPr lang="en-US" sz="2000" b="1" dirty="0">
                <a:solidFill>
                  <a:schemeClr val="tx2">
                    <a:lumMod val="20000"/>
                    <a:lumOff val="80000"/>
                  </a:schemeClr>
                </a:solidFill>
                <a:latin typeface="Arial"/>
                <a:cs typeface="Arial"/>
              </a:rPr>
              <a:t>3. Department :- CSE</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r>
              <a:rPr lang="en-US" sz="2000" dirty="0">
                <a:latin typeface="Arial"/>
                <a:ea typeface="+mn-lt"/>
                <a:cs typeface="Arial"/>
              </a:rPr>
              <a:t>(</a:t>
            </a:r>
            <a:r>
              <a:rPr lang="en-US" sz="2000" b="1" dirty="0">
                <a:solidFill>
                  <a:schemeClr val="tx1"/>
                </a:solidFill>
                <a:latin typeface="Arial" panose="020B0604020202020204" pitchFamily="34" charset="0"/>
                <a:cs typeface="Arial" panose="020B0604020202020204" pitchFamily="34" charset="0"/>
              </a:rPr>
              <a:t>Sample Super Store</a:t>
            </a:r>
            <a:r>
              <a:rPr lang="en-US" sz="2000" dirty="0">
                <a:solidFill>
                  <a:schemeClr val="tx1"/>
                </a:solidFill>
                <a:latin typeface="Arial" panose="020B0604020202020204" pitchFamily="34" charset="0"/>
                <a:cs typeface="Arial" panose="020B0604020202020204" pitchFamily="34" charset="0"/>
              </a:rPr>
              <a:t> </a:t>
            </a:r>
            <a:r>
              <a:rPr lang="en-US" sz="2000" dirty="0">
                <a:latin typeface="Arial"/>
                <a:ea typeface="+mn-lt"/>
                <a:cs typeface="Arial"/>
              </a:rPr>
              <a:t>)</a:t>
            </a:r>
            <a:endParaRPr lang="en-US" dirty="0">
              <a:latin typeface="Arial"/>
              <a:cs typeface="Arial"/>
            </a:endParaRPr>
          </a:p>
          <a:p>
            <a:pPr marL="305435" indent="-305435"/>
            <a:r>
              <a:rPr lang="en-US" sz="2000" b="1" dirty="0">
                <a:latin typeface="Arial"/>
                <a:ea typeface="+mn-lt"/>
                <a:cs typeface="Arial"/>
              </a:rPr>
              <a:t>Proposed System/Solution</a:t>
            </a:r>
            <a:endParaRPr lang="en-US" dirty="0">
              <a:latin typeface="Arial"/>
              <a:ea typeface="+mn-lt"/>
              <a:cs typeface="+mn-lt"/>
            </a:endParaRPr>
          </a:p>
          <a:p>
            <a:pPr marL="305435" indent="-305435"/>
            <a:r>
              <a:rPr lang="en-US" sz="2000" b="1" dirty="0">
                <a:latin typeface="Arial"/>
                <a:ea typeface="+mn-lt"/>
                <a:cs typeface="+mn-lt"/>
              </a:rPr>
              <a:t>Algorithm &amp; Deployment  </a:t>
            </a:r>
            <a:endParaRPr lang="en-US" dirty="0">
              <a:latin typeface="Arial"/>
              <a:cs typeface="Calibri"/>
            </a:endParaRPr>
          </a:p>
          <a:p>
            <a:pPr marL="305435" indent="-305435"/>
            <a:r>
              <a:rPr lang="en-US" sz="2000" b="1" dirty="0">
                <a:latin typeface="Arial"/>
                <a:ea typeface="+mn-lt"/>
                <a:cs typeface="Arial"/>
              </a:rPr>
              <a:t>Result (Output Image)</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Scope</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lstStyle/>
          <a:p>
            <a:pPr marL="305435" indent="-305435"/>
            <a:r>
              <a:rPr lang="en-US" sz="1800" dirty="0">
                <a:latin typeface="Arial" panose="020B0604020202020204" pitchFamily="34" charset="0"/>
                <a:cs typeface="Arial" panose="020B0604020202020204" pitchFamily="34" charset="0"/>
              </a:rPr>
              <a:t>The </a:t>
            </a:r>
            <a:r>
              <a:rPr lang="en-US" sz="1800" b="1" dirty="0">
                <a:solidFill>
                  <a:schemeClr val="tx1"/>
                </a:solidFill>
                <a:latin typeface="Arial" panose="020B0604020202020204" pitchFamily="34" charset="0"/>
                <a:cs typeface="Arial" panose="020B0604020202020204" pitchFamily="34" charset="0"/>
              </a:rPr>
              <a:t>Sample Super Store</a:t>
            </a:r>
            <a:r>
              <a:rPr lang="en-US" sz="1800" dirty="0">
                <a:solidFill>
                  <a:schemeClr val="tx1"/>
                </a:solidFill>
                <a:latin typeface="Arial" panose="020B0604020202020204" pitchFamily="34" charset="0"/>
                <a:cs typeface="Arial" panose="020B0604020202020204" pitchFamily="34" charset="0"/>
              </a:rPr>
              <a:t> represents </a:t>
            </a:r>
            <a:r>
              <a:rPr lang="en-US" sz="1800" dirty="0">
                <a:latin typeface="Arial" panose="020B0604020202020204" pitchFamily="34" charset="0"/>
                <a:cs typeface="Arial" panose="020B0604020202020204" pitchFamily="34" charset="0"/>
              </a:rPr>
              <a:t>a large retail business that sells a wide range of products across multiple categories such as furniture, office supplies, and technology, serving customers in different regions and segments. Due to the high volume and diversity of transactional data, the raw dataset contains inconsistencies and is not immediately suitable for analysis.</a:t>
            </a:r>
          </a:p>
          <a:p>
            <a:pPr marL="305435" indent="-305435"/>
            <a:r>
              <a:rPr lang="en-US" sz="1800" dirty="0">
                <a:latin typeface="Arial" panose="020B0604020202020204" pitchFamily="34" charset="0"/>
                <a:cs typeface="Arial" panose="020B0604020202020204" pitchFamily="34" charset="0"/>
              </a:rPr>
              <a:t>Dataset contain inconsistent retail data</a:t>
            </a:r>
          </a:p>
          <a:p>
            <a:pPr marL="305435" indent="-305435"/>
            <a:r>
              <a:rPr lang="en-US" sz="1800" dirty="0">
                <a:latin typeface="Arial" panose="020B0604020202020204" pitchFamily="34" charset="0"/>
                <a:cs typeface="Arial" panose="020B0604020202020204" pitchFamily="34" charset="0"/>
              </a:rPr>
              <a:t>Need to clean and structure data</a:t>
            </a:r>
          </a:p>
          <a:p>
            <a:pPr marL="305435" indent="-305435"/>
            <a:r>
              <a:rPr lang="en-US" sz="1800" dirty="0">
                <a:latin typeface="Arial" panose="020B0604020202020204" pitchFamily="34" charset="0"/>
                <a:cs typeface="Arial" panose="020B0604020202020204" pitchFamily="34" charset="0"/>
              </a:rPr>
              <a:t>Generate visual insights</a:t>
            </a:r>
          </a:p>
          <a:p>
            <a:pPr marL="305435" indent="-305435"/>
            <a:r>
              <a:rPr lang="en-US" sz="1800" dirty="0">
                <a:latin typeface="Arial" panose="020B0604020202020204" pitchFamily="34" charset="0"/>
                <a:cs typeface="Arial" panose="020B0604020202020204" pitchFamily="34" charset="0"/>
              </a:rPr>
              <a:t>Support data-driven decisions</a:t>
            </a:r>
          </a:p>
          <a:p>
            <a:pPr marL="305435" indent="-305435"/>
            <a:endParaRPr lang="en-US" dirty="0">
              <a:latin typeface="Arial" panose="020B0604020202020204" pitchFamily="34" charset="0"/>
              <a:cs typeface="Arial" panose="020B0604020202020204" pitchFamily="34" charset="0"/>
            </a:endParaRPr>
          </a:p>
          <a:p>
            <a:pPr marL="305435" indent="-305435"/>
            <a:endParaRPr lang="en-IN" dirty="0">
              <a:latin typeface="Arial Black" panose="020B0A04020102020204" pitchFamily="34" charset="0"/>
            </a:endParaRPr>
          </a:p>
        </p:txBody>
      </p:sp>
      <p:sp>
        <p:nvSpPr>
          <p:cNvPr id="8" name="Rectangle 4">
            <a:extLst>
              <a:ext uri="{FF2B5EF4-FFF2-40B4-BE49-F238E27FC236}">
                <a16:creationId xmlns:a16="http://schemas.microsoft.com/office/drawing/2014/main" id="{B23B8F98-2AFA-6B56-DEE9-0E357221BEDA}"/>
              </a:ext>
            </a:extLst>
          </p:cNvPr>
          <p:cNvSpPr>
            <a:spLocks noChangeArrowheads="1"/>
          </p:cNvSpPr>
          <p:nvPr/>
        </p:nvSpPr>
        <p:spPr bwMode="auto">
          <a:xfrm rot="17693036">
            <a:off x="519339" y="-333922"/>
            <a:ext cx="220063" cy="244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Proposed Solution</a:t>
            </a:r>
            <a:endParaRPr lang="en-US" sz="440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pPr marL="305435" indent="-305435"/>
            <a:endParaRPr lang="en-IN" sz="1200" b="1" dirty="0">
              <a:latin typeface="Calibri"/>
              <a:cs typeface="Calibri"/>
            </a:endParaRPr>
          </a:p>
          <a:p>
            <a:pPr lvl="0">
              <a:spcBef>
                <a:spcPts val="1000"/>
              </a:spcBef>
              <a:spcAft>
                <a:spcPts val="0"/>
              </a:spcAft>
              <a:buSzPts val="1840"/>
              <a:buChar char="◼"/>
            </a:pPr>
            <a:r>
              <a:rPr lang="en-US" sz="1800" dirty="0">
                <a:latin typeface="Arial" panose="020B0604020202020204" pitchFamily="34" charset="0"/>
                <a:cs typeface="Arial" panose="020B0604020202020204" pitchFamily="34" charset="0"/>
              </a:rPr>
              <a:t>To address the problem, the proposed solution is to adopt </a:t>
            </a:r>
            <a:r>
              <a:rPr lang="en-US" sz="1800" dirty="0">
                <a:solidFill>
                  <a:schemeClr val="tx1"/>
                </a:solidFill>
                <a:latin typeface="Arial" panose="020B0604020202020204" pitchFamily="34" charset="0"/>
                <a:cs typeface="Arial" panose="020B0604020202020204" pitchFamily="34" charset="0"/>
              </a:rPr>
              <a:t>a</a:t>
            </a:r>
            <a:r>
              <a:rPr lang="en-US" sz="1800" dirty="0">
                <a:solidFill>
                  <a:srgbClr val="FF0000"/>
                </a:solidFill>
                <a:latin typeface="Arial" panose="020B0604020202020204" pitchFamily="34" charset="0"/>
                <a:cs typeface="Arial" panose="020B0604020202020204" pitchFamily="34" charset="0"/>
              </a:rPr>
              <a:t> </a:t>
            </a:r>
            <a:r>
              <a:rPr lang="en-US" sz="1800" b="1" dirty="0">
                <a:solidFill>
                  <a:schemeClr val="tx1"/>
                </a:solidFill>
                <a:latin typeface="Arial" panose="020B0604020202020204" pitchFamily="34" charset="0"/>
                <a:cs typeface="Arial" panose="020B0604020202020204" pitchFamily="34" charset="0"/>
              </a:rPr>
              <a:t>structured data analytics workflow using IBM watsonx.ai Studio and IBM Data Refinery</a:t>
            </a:r>
            <a:r>
              <a:rPr lang="en-US" sz="1800" dirty="0">
                <a:solidFill>
                  <a:schemeClr val="tx1"/>
                </a:solidFill>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The solution begins with creating a cloud-based analytics project and securely importing the </a:t>
            </a:r>
            <a:r>
              <a:rPr lang="en-US" sz="1800" b="1" dirty="0">
                <a:solidFill>
                  <a:schemeClr val="tx1"/>
                </a:solidFill>
                <a:latin typeface="Arial" panose="020B0604020202020204" pitchFamily="34" charset="0"/>
                <a:cs typeface="Arial" panose="020B0604020202020204" pitchFamily="34" charset="0"/>
              </a:rPr>
              <a:t>Sample Super Store dataset</a:t>
            </a:r>
            <a:r>
              <a:rPr lang="en-US" sz="1800" dirty="0">
                <a:solidFill>
                  <a:schemeClr val="tx1"/>
                </a:solidFill>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into the platform. Using Data Refinery, the raw retail data is </a:t>
            </a:r>
            <a:r>
              <a:rPr lang="en-US" sz="1800" b="1" dirty="0">
                <a:solidFill>
                  <a:schemeClr val="tx1"/>
                </a:solidFill>
                <a:latin typeface="Arial" panose="020B0604020202020204" pitchFamily="34" charset="0"/>
                <a:cs typeface="Arial" panose="020B0604020202020204" pitchFamily="34" charset="0"/>
              </a:rPr>
              <a:t>prepared and refined</a:t>
            </a:r>
            <a:r>
              <a:rPr lang="en-US" sz="1800" dirty="0">
                <a:solidFill>
                  <a:schemeClr val="tx1"/>
                </a:solidFill>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by organizing columns, handling inconsistencies, and structuring the dataset for analysis.</a:t>
            </a:r>
            <a:endParaRPr lang="en-US" dirty="0">
              <a:latin typeface="Arial" panose="020B0604020202020204" pitchFamily="34" charset="0"/>
              <a:cs typeface="Arial" panose="020B0604020202020204" pitchFamily="34" charset="0"/>
            </a:endParaRPr>
          </a:p>
          <a:p>
            <a:pPr lvl="0">
              <a:spcBef>
                <a:spcPts val="1000"/>
              </a:spcBef>
              <a:spcAft>
                <a:spcPts val="0"/>
              </a:spcAft>
              <a:buSzPts val="1840"/>
              <a:buChar char="◼"/>
            </a:pPr>
            <a:r>
              <a:rPr lang="en-US" sz="1800" dirty="0">
                <a:latin typeface="Arial" panose="020B0604020202020204" pitchFamily="34" charset="0"/>
                <a:cs typeface="Arial" panose="020B0604020202020204" pitchFamily="34" charset="0"/>
              </a:rPr>
              <a:t>Once the data is prepared</a:t>
            </a:r>
            <a:r>
              <a:rPr lang="en-US" sz="1800" dirty="0">
                <a:solidFill>
                  <a:schemeClr val="tx1"/>
                </a:solidFill>
                <a:latin typeface="Arial" panose="020B0604020202020204" pitchFamily="34" charset="0"/>
                <a:cs typeface="Arial" panose="020B0604020202020204" pitchFamily="34" charset="0"/>
              </a:rPr>
              <a:t>, </a:t>
            </a:r>
            <a:r>
              <a:rPr lang="en-US" sz="1800" b="1" dirty="0">
                <a:solidFill>
                  <a:schemeClr val="tx1"/>
                </a:solidFill>
                <a:latin typeface="Arial" panose="020B0604020202020204" pitchFamily="34" charset="0"/>
                <a:cs typeface="Arial" panose="020B0604020202020204" pitchFamily="34" charset="0"/>
              </a:rPr>
              <a:t>visual analytics techniques</a:t>
            </a:r>
            <a:r>
              <a:rPr lang="en-US" sz="1800" dirty="0">
                <a:solidFill>
                  <a:schemeClr val="tx1"/>
                </a:solidFill>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are applied to explore and interpret the data. Various charts such </a:t>
            </a:r>
            <a:r>
              <a:rPr lang="en-US" sz="1800" dirty="0">
                <a:solidFill>
                  <a:schemeClr val="tx1"/>
                </a:solidFill>
                <a:latin typeface="Arial" panose="020B0604020202020204" pitchFamily="34" charset="0"/>
                <a:cs typeface="Arial" panose="020B0604020202020204" pitchFamily="34" charset="0"/>
              </a:rPr>
              <a:t>as </a:t>
            </a:r>
            <a:r>
              <a:rPr lang="en-US" sz="1800" b="1" dirty="0">
                <a:solidFill>
                  <a:schemeClr val="tx1"/>
                </a:solidFill>
                <a:latin typeface="Arial" panose="020B0604020202020204" pitchFamily="34" charset="0"/>
                <a:cs typeface="Arial" panose="020B0604020202020204" pitchFamily="34" charset="0"/>
              </a:rPr>
              <a:t>pie charts, bar charts, and Pareto charts</a:t>
            </a:r>
            <a:r>
              <a:rPr lang="en-US" sz="1800" dirty="0">
                <a:solidFill>
                  <a:srgbClr val="FF0000"/>
                </a:solidFill>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are generated to analyze sales distribution, category-wise and region-wise performance, and identify the most significant contributors to overall sales. This step-by-step approach converts raw transactional data into </a:t>
            </a:r>
            <a:r>
              <a:rPr lang="en-US" sz="1800" b="1" dirty="0">
                <a:solidFill>
                  <a:schemeClr val="tx1"/>
                </a:solidFill>
                <a:latin typeface="Arial" panose="020B0604020202020204" pitchFamily="34" charset="0"/>
                <a:cs typeface="Arial" panose="020B0604020202020204" pitchFamily="34" charset="0"/>
              </a:rPr>
              <a:t>clear, visual insights</a:t>
            </a:r>
            <a:r>
              <a:rPr lang="en-US" sz="1800" dirty="0">
                <a:latin typeface="Arial" panose="020B0604020202020204" pitchFamily="34" charset="0"/>
                <a:cs typeface="Arial" panose="020B0604020202020204" pitchFamily="34" charset="0"/>
              </a:rPr>
              <a:t>, enabling better understanding of business performance and supporting informed decision-making</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6" name="Rectangle 3">
            <a:extLst>
              <a:ext uri="{FF2B5EF4-FFF2-40B4-BE49-F238E27FC236}">
                <a16:creationId xmlns:a16="http://schemas.microsoft.com/office/drawing/2014/main" id="{EE616220-8332-BDD3-268C-98173465D385}"/>
              </a:ext>
            </a:extLst>
          </p:cNvPr>
          <p:cNvSpPr>
            <a:spLocks noGrp="1" noChangeArrowheads="1"/>
          </p:cNvSpPr>
          <p:nvPr>
            <p:ph idx="1"/>
          </p:nvPr>
        </p:nvSpPr>
        <p:spPr bwMode="auto">
          <a:xfrm>
            <a:off x="581192" y="2346028"/>
            <a:ext cx="5253361"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Create project in IBM watsonx.ai Studio</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Upload the dataset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Clean and prepare data using IBM Data Refinery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Analyze data with charts and visualizations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Generate insights for decision-making</a:t>
            </a: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sp>
        <p:nvSpPr>
          <p:cNvPr id="2" name="Content Placeholder 1">
            <a:extLst>
              <a:ext uri="{FF2B5EF4-FFF2-40B4-BE49-F238E27FC236}">
                <a16:creationId xmlns:a16="http://schemas.microsoft.com/office/drawing/2014/main" id="{D3304455-6802-6CA9-8475-2F6DD1B8D409}"/>
              </a:ext>
            </a:extLst>
          </p:cNvPr>
          <p:cNvSpPr>
            <a:spLocks noGrp="1"/>
          </p:cNvSpPr>
          <p:nvPr>
            <p:ph idx="1"/>
          </p:nvPr>
        </p:nvSpPr>
        <p:spPr/>
        <p:txBody>
          <a:bodyPr>
            <a:normAutofit/>
          </a:bodyPr>
          <a:lstStyle/>
          <a:p>
            <a:pPr marL="0" indent="0">
              <a:buNone/>
            </a:pPr>
            <a:r>
              <a:rPr lang="en-IN" sz="2400" dirty="0">
                <a:solidFill>
                  <a:srgbClr val="0F0F0F"/>
                </a:solidFill>
                <a:ea typeface="+mn-lt"/>
                <a:cs typeface="+mn-lt"/>
              </a:rPr>
              <a:t>.</a:t>
            </a:r>
            <a:endParaRPr lang="en-IN" sz="2400" dirty="0"/>
          </a:p>
        </p:txBody>
      </p:sp>
      <p:pic>
        <p:nvPicPr>
          <p:cNvPr id="3" name="Picture 2">
            <a:extLst>
              <a:ext uri="{FF2B5EF4-FFF2-40B4-BE49-F238E27FC236}">
                <a16:creationId xmlns:a16="http://schemas.microsoft.com/office/drawing/2014/main" id="{7BF21711-3B3F-4A03-06F5-A2A1FFFBAC56}"/>
              </a:ext>
            </a:extLst>
          </p:cNvPr>
          <p:cNvPicPr>
            <a:picLocks noChangeAspect="1"/>
          </p:cNvPicPr>
          <p:nvPr/>
        </p:nvPicPr>
        <p:blipFill>
          <a:blip r:embed="rId2"/>
          <a:stretch>
            <a:fillRect/>
          </a:stretch>
        </p:blipFill>
        <p:spPr>
          <a:xfrm>
            <a:off x="1012371" y="1155976"/>
            <a:ext cx="10466615" cy="4673324"/>
          </a:xfrm>
          <a:prstGeom prst="rect">
            <a:avLst/>
          </a:prstGeom>
        </p:spPr>
      </p:pic>
    </p:spTree>
    <p:extLst>
      <p:ext uri="{BB962C8B-B14F-4D97-AF65-F5344CB8AC3E}">
        <p14:creationId xmlns:p14="http://schemas.microsoft.com/office/powerpoint/2010/main" val="1483293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6FFA04B3-DAFB-ECC7-1037-07320A3DDCF1}"/>
              </a:ext>
            </a:extLst>
          </p:cNvPr>
          <p:cNvSpPr>
            <a:spLocks noGrp="1"/>
          </p:cNvSpPr>
          <p:nvPr>
            <p:ph type="title"/>
          </p:nvPr>
        </p:nvSpPr>
        <p:spPr>
          <a:xfrm>
            <a:off x="525236" y="701676"/>
            <a:ext cx="11029950" cy="530225"/>
          </a:xfrm>
        </p:spPr>
        <p:txBody>
          <a:bodyPr>
            <a:normAutofit fontScale="90000"/>
          </a:bodyPr>
          <a:lstStyle/>
          <a:p>
            <a:r>
              <a:rPr lang="en-US" sz="4400" b="1" dirty="0">
                <a:solidFill>
                  <a:schemeClr val="accent1"/>
                </a:solidFill>
                <a:latin typeface="Arial"/>
                <a:ea typeface="+mj-lt"/>
                <a:cs typeface="Arial"/>
              </a:rPr>
              <a:t>Result</a:t>
            </a:r>
            <a:endParaRPr lang="en-US" dirty="0"/>
          </a:p>
        </p:txBody>
      </p:sp>
      <p:pic>
        <p:nvPicPr>
          <p:cNvPr id="5" name="Content Placeholder 4">
            <a:extLst>
              <a:ext uri="{FF2B5EF4-FFF2-40B4-BE49-F238E27FC236}">
                <a16:creationId xmlns:a16="http://schemas.microsoft.com/office/drawing/2014/main" id="{BDB36170-E427-E0F0-BC3B-0A1DBBC187A0}"/>
              </a:ext>
            </a:extLst>
          </p:cNvPr>
          <p:cNvPicPr>
            <a:picLocks noGrp="1" noChangeAspect="1"/>
          </p:cNvPicPr>
          <p:nvPr>
            <p:ph idx="1"/>
          </p:nvPr>
        </p:nvPicPr>
        <p:blipFill>
          <a:blip r:embed="rId2"/>
          <a:stretch>
            <a:fillRect/>
          </a:stretch>
        </p:blipFill>
        <p:spPr>
          <a:xfrm>
            <a:off x="767443" y="1301749"/>
            <a:ext cx="10843532" cy="4854575"/>
          </a:xfrm>
          <a:prstGeom prst="rect">
            <a:avLst/>
          </a:prstGeom>
        </p:spPr>
      </p:pic>
    </p:spTree>
    <p:extLst>
      <p:ext uri="{BB962C8B-B14F-4D97-AF65-F5344CB8AC3E}">
        <p14:creationId xmlns:p14="http://schemas.microsoft.com/office/powerpoint/2010/main" val="1244866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D892D-639E-2AA4-B75C-E52F9AADF950}"/>
              </a:ext>
            </a:extLst>
          </p:cNvPr>
          <p:cNvSpPr>
            <a:spLocks noGrp="1"/>
          </p:cNvSpPr>
          <p:nvPr>
            <p:ph type="title"/>
          </p:nvPr>
        </p:nvSpPr>
        <p:spPr/>
        <p:txBody>
          <a:bodyPr/>
          <a:lstStyle/>
          <a:p>
            <a:r>
              <a:rPr lang="en-US" b="1" dirty="0">
                <a:solidFill>
                  <a:schemeClr val="accent1"/>
                </a:solidFill>
                <a:latin typeface="Arial"/>
                <a:ea typeface="+mj-lt"/>
                <a:cs typeface="Arial"/>
              </a:rPr>
              <a:t>Result</a:t>
            </a:r>
            <a:endParaRPr lang="en-IN" dirty="0"/>
          </a:p>
        </p:txBody>
      </p:sp>
      <p:pic>
        <p:nvPicPr>
          <p:cNvPr id="4" name="Content Placeholder 3">
            <a:extLst>
              <a:ext uri="{FF2B5EF4-FFF2-40B4-BE49-F238E27FC236}">
                <a16:creationId xmlns:a16="http://schemas.microsoft.com/office/drawing/2014/main" id="{F6FDF2BF-8852-89CE-3CAB-650131297BBA}"/>
              </a:ext>
            </a:extLst>
          </p:cNvPr>
          <p:cNvPicPr>
            <a:picLocks noGrp="1" noChangeAspect="1"/>
          </p:cNvPicPr>
          <p:nvPr>
            <p:ph idx="1"/>
          </p:nvPr>
        </p:nvPicPr>
        <p:blipFill>
          <a:blip r:embed="rId2"/>
          <a:stretch>
            <a:fillRect/>
          </a:stretch>
        </p:blipFill>
        <p:spPr>
          <a:xfrm>
            <a:off x="988575" y="1301750"/>
            <a:ext cx="10214850" cy="4673600"/>
          </a:xfrm>
          <a:prstGeom prst="rect">
            <a:avLst/>
          </a:prstGeom>
        </p:spPr>
      </p:pic>
    </p:spTree>
    <p:extLst>
      <p:ext uri="{BB962C8B-B14F-4D97-AF65-F5344CB8AC3E}">
        <p14:creationId xmlns:p14="http://schemas.microsoft.com/office/powerpoint/2010/main" val="20888849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7B467-2476-1194-8C52-119E7BD24E27}"/>
              </a:ext>
            </a:extLst>
          </p:cNvPr>
          <p:cNvSpPr>
            <a:spLocks noGrp="1"/>
          </p:cNvSpPr>
          <p:nvPr>
            <p:ph type="title"/>
          </p:nvPr>
        </p:nvSpPr>
        <p:spPr/>
        <p:txBody>
          <a:bodyPr/>
          <a:lstStyle/>
          <a:p>
            <a:r>
              <a:rPr lang="en-US" b="1" dirty="0">
                <a:solidFill>
                  <a:schemeClr val="accent1"/>
                </a:solidFill>
                <a:latin typeface="Arial"/>
                <a:ea typeface="+mj-lt"/>
                <a:cs typeface="Arial"/>
              </a:rPr>
              <a:t>Result</a:t>
            </a:r>
            <a:endParaRPr lang="en-IN" dirty="0"/>
          </a:p>
        </p:txBody>
      </p:sp>
      <p:pic>
        <p:nvPicPr>
          <p:cNvPr id="4" name="Content Placeholder 3">
            <a:extLst>
              <a:ext uri="{FF2B5EF4-FFF2-40B4-BE49-F238E27FC236}">
                <a16:creationId xmlns:a16="http://schemas.microsoft.com/office/drawing/2014/main" id="{65C9C1A9-00D8-613D-01C5-4FEA849C4A4E}"/>
              </a:ext>
            </a:extLst>
          </p:cNvPr>
          <p:cNvPicPr>
            <a:picLocks noGrp="1" noChangeAspect="1"/>
          </p:cNvPicPr>
          <p:nvPr>
            <p:ph idx="1"/>
          </p:nvPr>
        </p:nvPicPr>
        <p:blipFill>
          <a:blip r:embed="rId2"/>
          <a:stretch>
            <a:fillRect/>
          </a:stretch>
        </p:blipFill>
        <p:spPr>
          <a:xfrm>
            <a:off x="994386" y="1301750"/>
            <a:ext cx="10203228" cy="4673600"/>
          </a:xfrm>
          <a:prstGeom prst="rect">
            <a:avLst/>
          </a:prstGeom>
        </p:spPr>
      </p:pic>
    </p:spTree>
    <p:extLst>
      <p:ext uri="{BB962C8B-B14F-4D97-AF65-F5344CB8AC3E}">
        <p14:creationId xmlns:p14="http://schemas.microsoft.com/office/powerpoint/2010/main" val="2357899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FB041-5E04-5A8D-6689-64882BF7AC2E}"/>
              </a:ext>
            </a:extLst>
          </p:cNvPr>
          <p:cNvSpPr>
            <a:spLocks noGrp="1"/>
          </p:cNvSpPr>
          <p:nvPr>
            <p:ph type="title"/>
          </p:nvPr>
        </p:nvSpPr>
        <p:spPr/>
        <p:txBody>
          <a:bodyPr/>
          <a:lstStyle/>
          <a:p>
            <a:r>
              <a:rPr lang="en-US" b="1" dirty="0">
                <a:solidFill>
                  <a:schemeClr val="accent1"/>
                </a:solidFill>
                <a:latin typeface="Arial"/>
                <a:ea typeface="+mj-lt"/>
                <a:cs typeface="Arial"/>
              </a:rPr>
              <a:t>Result</a:t>
            </a:r>
            <a:endParaRPr lang="en-IN" dirty="0"/>
          </a:p>
        </p:txBody>
      </p:sp>
      <p:pic>
        <p:nvPicPr>
          <p:cNvPr id="4" name="Content Placeholder 3">
            <a:extLst>
              <a:ext uri="{FF2B5EF4-FFF2-40B4-BE49-F238E27FC236}">
                <a16:creationId xmlns:a16="http://schemas.microsoft.com/office/drawing/2014/main" id="{3C662CEF-5710-A0CD-DFC2-516BF45303D7}"/>
              </a:ext>
            </a:extLst>
          </p:cNvPr>
          <p:cNvPicPr>
            <a:picLocks noGrp="1" noChangeAspect="1"/>
          </p:cNvPicPr>
          <p:nvPr>
            <p:ph idx="1"/>
          </p:nvPr>
        </p:nvPicPr>
        <p:blipFill>
          <a:blip r:embed="rId2"/>
          <a:stretch>
            <a:fillRect/>
          </a:stretch>
        </p:blipFill>
        <p:spPr>
          <a:xfrm>
            <a:off x="987585" y="1301750"/>
            <a:ext cx="10216830" cy="4673600"/>
          </a:xfrm>
          <a:prstGeom prst="rect">
            <a:avLst/>
          </a:prstGeom>
        </p:spPr>
      </p:pic>
    </p:spTree>
    <p:extLst>
      <p:ext uri="{BB962C8B-B14F-4D97-AF65-F5344CB8AC3E}">
        <p14:creationId xmlns:p14="http://schemas.microsoft.com/office/powerpoint/2010/main" val="38672117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p:txBody>
          <a:bodyPr>
            <a:normAutofit/>
          </a:bodyPr>
          <a:lstStyle/>
          <a:p>
            <a:pPr marL="305435" indent="-305435"/>
            <a:r>
              <a:rPr lang="en-US" sz="2000" dirty="0"/>
              <a:t>This project demonstrated how </a:t>
            </a:r>
            <a:r>
              <a:rPr lang="en-US" sz="2000" b="1" dirty="0">
                <a:solidFill>
                  <a:schemeClr val="tx1"/>
                </a:solidFill>
              </a:rPr>
              <a:t>IBM watsonx.ai Studio </a:t>
            </a:r>
            <a:r>
              <a:rPr lang="en-US" sz="2000" dirty="0"/>
              <a:t>and </a:t>
            </a:r>
            <a:r>
              <a:rPr lang="en-US" sz="2000" b="1" dirty="0">
                <a:solidFill>
                  <a:schemeClr val="tx1"/>
                </a:solidFill>
              </a:rPr>
              <a:t>IBM Data Refinery </a:t>
            </a:r>
            <a:r>
              <a:rPr lang="en-US" sz="2000" dirty="0"/>
              <a:t>can be used to perform efficient end-to-end data analytics on retail data. By importing, cleaning, and organizing the dataset, raw transactional data was transformed into a structured and analysis-ready format. Visualization techniques such as pie charts, bar charts, and Pareto charts helped identify sales patterns, key contributors, and overall business performance. The project highlights that cloud-based analytics tools improve data accuracy, simplify analysis, and support informed, data-driven decision-making.</a:t>
            </a:r>
            <a:endParaRPr lang="en-IN" sz="2000" dirty="0"/>
          </a:p>
        </p:txBody>
      </p:sp>
    </p:spTree>
    <p:extLst>
      <p:ext uri="{BB962C8B-B14F-4D97-AF65-F5344CB8AC3E}">
        <p14:creationId xmlns:p14="http://schemas.microsoft.com/office/powerpoint/2010/main" val="3183315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590EC-08FC-1D85-10D7-01A935BF9A05}"/>
              </a:ext>
            </a:extLst>
          </p:cNvPr>
          <p:cNvSpPr>
            <a:spLocks noGrp="1"/>
          </p:cNvSpPr>
          <p:nvPr>
            <p:ph type="title"/>
          </p:nvPr>
        </p:nvSpPr>
        <p:spPr/>
        <p:txBody>
          <a:bodyPr/>
          <a:lstStyle/>
          <a:p>
            <a:r>
              <a:rPr lang="en-US" dirty="0">
                <a:solidFill>
                  <a:srgbClr val="00B0F0"/>
                </a:solidFill>
              </a:rPr>
              <a:t>CERTIFICATES</a:t>
            </a:r>
            <a:endParaRPr lang="en-IN" dirty="0"/>
          </a:p>
        </p:txBody>
      </p:sp>
      <p:pic>
        <p:nvPicPr>
          <p:cNvPr id="5" name="Content Placeholder 4">
            <a:extLst>
              <a:ext uri="{FF2B5EF4-FFF2-40B4-BE49-F238E27FC236}">
                <a16:creationId xmlns:a16="http://schemas.microsoft.com/office/drawing/2014/main" id="{E2033127-C79F-1BE5-F031-A200D7551305}"/>
              </a:ext>
            </a:extLst>
          </p:cNvPr>
          <p:cNvPicPr>
            <a:picLocks noGrp="1" noChangeAspect="1"/>
          </p:cNvPicPr>
          <p:nvPr>
            <p:ph idx="1"/>
          </p:nvPr>
        </p:nvPicPr>
        <p:blipFill>
          <a:blip r:embed="rId2"/>
          <a:stretch>
            <a:fillRect/>
          </a:stretch>
        </p:blipFill>
        <p:spPr>
          <a:xfrm>
            <a:off x="457201" y="1877785"/>
            <a:ext cx="5078186" cy="3918857"/>
          </a:xfrm>
          <a:prstGeom prst="rect">
            <a:avLst/>
          </a:prstGeom>
        </p:spPr>
      </p:pic>
      <p:pic>
        <p:nvPicPr>
          <p:cNvPr id="10" name="Picture 9">
            <a:extLst>
              <a:ext uri="{FF2B5EF4-FFF2-40B4-BE49-F238E27FC236}">
                <a16:creationId xmlns:a16="http://schemas.microsoft.com/office/drawing/2014/main" id="{6583A312-B97D-11C0-6600-F14445869442}"/>
              </a:ext>
            </a:extLst>
          </p:cNvPr>
          <p:cNvPicPr>
            <a:picLocks noChangeAspect="1"/>
          </p:cNvPicPr>
          <p:nvPr/>
        </p:nvPicPr>
        <p:blipFill>
          <a:blip r:embed="rId3"/>
          <a:stretch>
            <a:fillRect/>
          </a:stretch>
        </p:blipFill>
        <p:spPr>
          <a:xfrm>
            <a:off x="6227822" y="1877785"/>
            <a:ext cx="5382986" cy="3918857"/>
          </a:xfrm>
          <a:prstGeom prst="rect">
            <a:avLst/>
          </a:prstGeom>
        </p:spPr>
      </p:pic>
    </p:spTree>
    <p:extLst>
      <p:ext uri="{BB962C8B-B14F-4D97-AF65-F5344CB8AC3E}">
        <p14:creationId xmlns:p14="http://schemas.microsoft.com/office/powerpoint/2010/main" val="4042014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p:txBody>
          <a:bodyPr>
            <a:normAutofit lnSpcReduction="10000"/>
          </a:bodyPr>
          <a:lstStyle/>
          <a:p>
            <a:pPr marL="0" indent="0">
              <a:buNone/>
            </a:pPr>
            <a:endParaRPr lang="en-US" sz="2000" b="1" dirty="0"/>
          </a:p>
          <a:p>
            <a:pPr marL="305435" indent="-305435"/>
            <a:r>
              <a:rPr lang="en-US" sz="2000" dirty="0">
                <a:ea typeface="+mn-lt"/>
                <a:cs typeface="+mn-lt"/>
              </a:rPr>
              <a:t>Apply predictive analytics to forecast future sales</a:t>
            </a:r>
          </a:p>
          <a:p>
            <a:pPr marL="305435" indent="-305435"/>
            <a:endParaRPr lang="en-US" sz="2000" dirty="0">
              <a:ea typeface="+mn-lt"/>
              <a:cs typeface="+mn-lt"/>
            </a:endParaRPr>
          </a:p>
          <a:p>
            <a:pPr marL="305435" indent="-305435"/>
            <a:r>
              <a:rPr lang="en-US" sz="2000" dirty="0">
                <a:ea typeface="+mn-lt"/>
                <a:cs typeface="+mn-lt"/>
              </a:rPr>
              <a:t>Integrate machine learning for deeper insights</a:t>
            </a:r>
          </a:p>
          <a:p>
            <a:pPr marL="305435" indent="-305435"/>
            <a:endParaRPr lang="en-US" sz="2000" dirty="0">
              <a:ea typeface="+mn-lt"/>
              <a:cs typeface="+mn-lt"/>
            </a:endParaRPr>
          </a:p>
          <a:p>
            <a:pPr marL="305435" indent="-305435"/>
            <a:r>
              <a:rPr lang="en-US" sz="2000" dirty="0">
                <a:ea typeface="+mn-lt"/>
                <a:cs typeface="+mn-lt"/>
              </a:rPr>
              <a:t>Enable real-time data analysis</a:t>
            </a:r>
          </a:p>
          <a:p>
            <a:pPr marL="305435" indent="-305435"/>
            <a:endParaRPr lang="en-US" sz="2000" dirty="0">
              <a:ea typeface="+mn-lt"/>
              <a:cs typeface="+mn-lt"/>
            </a:endParaRPr>
          </a:p>
          <a:p>
            <a:pPr marL="305435" indent="-305435"/>
            <a:r>
              <a:rPr lang="en-US" sz="2000" dirty="0">
                <a:ea typeface="+mn-lt"/>
                <a:cs typeface="+mn-lt"/>
              </a:rPr>
              <a:t>Develop interactive dashboards and automated reports</a:t>
            </a:r>
          </a:p>
          <a:p>
            <a:pPr marL="305435" indent="-305435"/>
            <a:endParaRPr lang="en-US" sz="2000" dirty="0">
              <a:ea typeface="+mn-lt"/>
              <a:cs typeface="+mn-lt"/>
            </a:endParaRPr>
          </a:p>
          <a:p>
            <a:pPr marL="305435" indent="-305435"/>
            <a:r>
              <a:rPr lang="en-US" sz="2000" dirty="0">
                <a:ea typeface="+mn-lt"/>
                <a:cs typeface="+mn-lt"/>
              </a:rPr>
              <a:t>Expand the system for large-scale business use.</a:t>
            </a:r>
            <a:endParaRPr lang="en-US" sz="2000" dirty="0"/>
          </a:p>
          <a:p>
            <a:pPr marL="305435" indent="-305435"/>
            <a:endParaRPr lang="en-US" dirty="0"/>
          </a:p>
        </p:txBody>
      </p:sp>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Tree>
    <p:extLst>
      <p:ext uri="{BB962C8B-B14F-4D97-AF65-F5344CB8AC3E}">
        <p14:creationId xmlns:p14="http://schemas.microsoft.com/office/powerpoint/2010/main" val="614882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a16="http://schemas.microsoft.com/office/drawing/2014/main" id="{357C38BC-22B3-37B2-E0C3-812020A76077}"/>
              </a:ext>
            </a:extLst>
          </p:cNvPr>
          <p:cNvSpPr>
            <a:spLocks noGrp="1"/>
          </p:cNvSpPr>
          <p:nvPr>
            <p:ph idx="1"/>
          </p:nvPr>
        </p:nvSpPr>
        <p:spPr/>
        <p:txBody>
          <a:bodyPr>
            <a:normAutofit/>
          </a:bodyPr>
          <a:lstStyle/>
          <a:p>
            <a:pPr marL="0" lvl="0" indent="-114300">
              <a:lnSpc>
                <a:spcPct val="100000"/>
              </a:lnSpc>
              <a:spcBef>
                <a:spcPts val="0"/>
              </a:spcBef>
              <a:spcAft>
                <a:spcPts val="0"/>
              </a:spcAft>
              <a:buClr>
                <a:schemeClr val="dk1"/>
              </a:buClr>
              <a:buSzPts val="1800"/>
              <a:buFont typeface="Arial"/>
              <a:buChar char="•"/>
            </a:pPr>
            <a:r>
              <a:rPr lang="en-US" sz="2400" dirty="0">
                <a:solidFill>
                  <a:schemeClr val="dk1"/>
                </a:solidFill>
                <a:latin typeface="Arial"/>
                <a:ea typeface="Arial"/>
                <a:cs typeface="Arial"/>
                <a:sym typeface="Arial"/>
              </a:rPr>
              <a:t>IBM Cloud Documentation – IBM Cloud Platform Overview </a:t>
            </a:r>
            <a:endParaRPr lang="en-US" sz="2400" dirty="0"/>
          </a:p>
          <a:p>
            <a:pPr marL="0" lvl="0" indent="-114300">
              <a:lnSpc>
                <a:spcPct val="100000"/>
              </a:lnSpc>
              <a:spcBef>
                <a:spcPts val="0"/>
              </a:spcBef>
              <a:spcAft>
                <a:spcPts val="0"/>
              </a:spcAft>
              <a:buClr>
                <a:schemeClr val="dk1"/>
              </a:buClr>
              <a:buSzPts val="1800"/>
              <a:buFont typeface="Arial"/>
              <a:buChar char="•"/>
            </a:pPr>
            <a:r>
              <a:rPr lang="en-US" sz="2400" dirty="0">
                <a:solidFill>
                  <a:schemeClr val="dk1"/>
                </a:solidFill>
                <a:latin typeface="Arial"/>
                <a:ea typeface="Arial"/>
                <a:cs typeface="Arial"/>
                <a:sym typeface="Arial"/>
              </a:rPr>
              <a:t>IBM watsonx.ai Studio – Data Analytics and AI Services </a:t>
            </a:r>
            <a:endParaRPr lang="en-US" sz="2400" dirty="0"/>
          </a:p>
          <a:p>
            <a:pPr marL="0" lvl="0" indent="-114300">
              <a:lnSpc>
                <a:spcPct val="100000"/>
              </a:lnSpc>
              <a:spcBef>
                <a:spcPts val="0"/>
              </a:spcBef>
              <a:spcAft>
                <a:spcPts val="0"/>
              </a:spcAft>
              <a:buClr>
                <a:schemeClr val="dk1"/>
              </a:buClr>
              <a:buSzPts val="1800"/>
              <a:buFont typeface="Arial"/>
              <a:buChar char="•"/>
            </a:pPr>
            <a:r>
              <a:rPr lang="en-US" sz="2400" dirty="0">
                <a:solidFill>
                  <a:schemeClr val="dk1"/>
                </a:solidFill>
                <a:latin typeface="Arial"/>
                <a:ea typeface="Arial"/>
                <a:cs typeface="Arial"/>
                <a:sym typeface="Arial"/>
              </a:rPr>
              <a:t>IBM Data Refinery – Data Preparation and Visualization Tools </a:t>
            </a:r>
            <a:endParaRPr lang="en-US" sz="2400" dirty="0"/>
          </a:p>
          <a:p>
            <a:pPr marL="0" lvl="0" indent="-114300">
              <a:lnSpc>
                <a:spcPct val="100000"/>
              </a:lnSpc>
              <a:spcBef>
                <a:spcPts val="0"/>
              </a:spcBef>
              <a:spcAft>
                <a:spcPts val="0"/>
              </a:spcAft>
              <a:buClr>
                <a:schemeClr val="dk1"/>
              </a:buClr>
              <a:buSzPts val="1800"/>
              <a:buFont typeface="Arial"/>
              <a:buChar char="•"/>
            </a:pPr>
            <a:r>
              <a:rPr lang="en-US" sz="2400" dirty="0">
                <a:solidFill>
                  <a:schemeClr val="dk1"/>
                </a:solidFill>
                <a:latin typeface="Arial"/>
                <a:ea typeface="Arial"/>
                <a:cs typeface="Arial"/>
                <a:sym typeface="Arial"/>
              </a:rPr>
              <a:t>Sample Super Store Dataset – Retail Sales Analytics Dataset</a:t>
            </a:r>
            <a:endParaRPr lang="en-US" sz="2400" dirty="0"/>
          </a:p>
          <a:p>
            <a:pPr marL="305435" indent="-305435"/>
            <a:endParaRPr lang="en-IN" sz="2400" dirty="0"/>
          </a:p>
        </p:txBody>
      </p:sp>
    </p:spTree>
    <p:extLst>
      <p:ext uri="{BB962C8B-B14F-4D97-AF65-F5344CB8AC3E}">
        <p14:creationId xmlns:p14="http://schemas.microsoft.com/office/powerpoint/2010/main" val="728950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27BD4C1-B6B1-4715-ABF9-E660A51A4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Future forward</Template>
  <TotalTime>0</TotalTime>
  <Words>493</Words>
  <Application>Microsoft Office PowerPoint</Application>
  <PresentationFormat>Widescreen</PresentationFormat>
  <Paragraphs>61</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Arial Black</vt:lpstr>
      <vt:lpstr>Calibri</vt:lpstr>
      <vt:lpstr>Calibri Light</vt:lpstr>
      <vt:lpstr>Franklin Gothic Book</vt:lpstr>
      <vt:lpstr>Franklin Gothic Demi</vt:lpstr>
      <vt:lpstr>Wingdings 2</vt:lpstr>
      <vt:lpstr>DividendVTI</vt:lpstr>
      <vt:lpstr>Super store : data analytics</vt:lpstr>
      <vt:lpstr>OUTLINE</vt:lpstr>
      <vt:lpstr>Problem Statement</vt:lpstr>
      <vt:lpstr>Proposed Solution</vt:lpstr>
      <vt:lpstr>System  Approach</vt:lpstr>
      <vt:lpstr>Result</vt:lpstr>
      <vt:lpstr>Result</vt:lpstr>
      <vt:lpstr>Result</vt:lpstr>
      <vt:lpstr>Result</vt:lpstr>
      <vt:lpstr>Result</vt:lpstr>
      <vt:lpstr>Conclusion</vt:lpstr>
      <vt:lpstr>CERTIFICATES</vt:lpstr>
      <vt:lpstr>PowerPoint Presentation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HP PC</cp:lastModifiedBy>
  <cp:revision>31</cp:revision>
  <dcterms:created xsi:type="dcterms:W3CDTF">2021-05-26T16:50:10Z</dcterms:created>
  <dcterms:modified xsi:type="dcterms:W3CDTF">2026-02-06T20:04:44Z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